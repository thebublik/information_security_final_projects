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400" b="1">
                <a:solidFill>
                  <a:srgbClr val="38BDF8"/>
                </a:solidFill>
                <a:latin typeface="Segoe UI"/>
              </a:rPr>
              <a:t>DDoS-Protected Multi-Pod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3200" b="1">
                <a:solidFill>
                  <a:srgbClr val="E2E8F0"/>
                </a:solidFill>
                <a:latin typeface="Segoe UI"/>
              </a:rPr>
              <a:t>on Kubernetes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000" b="0">
                <a:solidFill>
                  <a:srgbClr val="94A3B8"/>
                </a:solidFill>
                <a:latin typeface="Segoe UI"/>
              </a:rPr>
              <a:t>Information Security —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600" b="0">
                <a:solidFill>
                  <a:srgbClr val="94A3B8"/>
                </a:solidFill>
                <a:latin typeface="Segoe UI"/>
              </a:rPr>
              <a:t>Combining DDoS Mitigation + Container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38BDF8"/>
                </a:solidFill>
                <a:latin typeface="Segoe UI"/>
              </a:rPr>
              <a:t>Amantai Akunov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Problem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4937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38BDF8"/>
                </a:solidFill>
                <a:latin typeface="Segoe UI"/>
              </a:rPr>
              <a:t>The Threat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DDoS attacks cost businesses an avg. $40k+/hour in downtime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Modern web apps face waves of automated bot traffic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Slowloris, HTTP flood &amp; layer-7 attacks exhaust resources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Single-server architectures have no failure isolation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Without rate limiting, one bad client = entire app down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486400" cy="4937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38BDF8"/>
                </a:solidFill>
                <a:latin typeface="Segoe UI"/>
              </a:rPr>
              <a:t>The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Defense at the network edge BEFORE traffic reaches apps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Horizontal scalability to absorb legitimate traffic spikes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Self-healing infrastructure that survives pod failures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Clear separation: public gateway vs. internal services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2E8F0"/>
                </a:solidFill>
                <a:latin typeface="Segoe UI"/>
              </a:rPr>
              <a:t>•  Reproducible deploys (config as code, not click-ops)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Segoe UI"/>
              </a:rPr>
              <a:t>A hardened Nginx ingress gateway in front of a multi-pod K8s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3749039" cy="4114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38BDF8"/>
                </a:solidFill>
                <a:latin typeface="Segoe UI"/>
              </a:rPr>
              <a:t>Nginx Gateway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DDoS-hardened entry point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Rate &amp; connection limits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Bot/UA filtering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Single public endpoint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20240"/>
            <a:ext cx="3749039" cy="4114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2103120"/>
            <a:ext cx="34747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6EE7B7"/>
                </a:solidFill>
                <a:latin typeface="Segoe UI"/>
              </a:rPr>
              <a:t>Multi-Pod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65176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React frontend (SPA)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Flask REST API backend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2 replicas of each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ClusterIP — internal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749039" cy="4114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103120"/>
            <a:ext cx="34747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FCD34D"/>
                </a:solidFill>
                <a:latin typeface="Segoe UI"/>
              </a:rPr>
              <a:t>Kubernetes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5176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Service discovery (DNS)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Health checks (liveness/readiness)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Self-healing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2E8F0"/>
                </a:solidFill>
                <a:latin typeface="Segoe UI"/>
              </a:rPr>
              <a:t>•  Horizontal scaling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188720"/>
            <a:ext cx="9418320" cy="5029200"/>
          </a:xfrm>
          <a:prstGeom prst="roundRect">
            <a:avLst>
              <a:gd name="adj" fmla="val 3000"/>
            </a:avLst>
          </a:prstGeom>
          <a:solidFill>
            <a:srgbClr val="101A32"/>
          </a:solidFill>
          <a:ln w="25400">
            <a:solidFill>
              <a:srgbClr val="38BDF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468880" y="12801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Segoe UI"/>
              </a:rPr>
              <a:t>Kubernetes Cluster (multi-pod-app namespace)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017520"/>
            <a:ext cx="164592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E2E8F0"/>
                </a:solidFill>
              </a:rPr>
              <a:t>Browser /</a:t>
            </a:r>
          </a:p>
          <a:p>
            <a:pPr algn="ctr"/>
            <a:r>
              <a:rPr sz="1400" b="1">
                <a:solidFill>
                  <a:srgbClr val="E2E8F0"/>
                </a:solidFill>
              </a:rPr>
              <a:t>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3474720"/>
            <a:ext cx="82296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43200" y="2194560"/>
            <a:ext cx="2560320" cy="2560320"/>
          </a:xfrm>
          <a:prstGeom prst="roundRect">
            <a:avLst/>
          </a:prstGeom>
          <a:solidFill>
            <a:srgbClr val="1E404F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38BDF8"/>
                </a:solidFill>
              </a:rPr>
              <a:t>GATEWAY
</a:t>
            </a:r>
            <a:r>
              <a:rPr sz="1100">
                <a:solidFill>
                  <a:srgbClr val="94A3B8"/>
                </a:solidFill>
              </a:rPr>
              <a:t>(DDoS-Hardened Nginx)
</a:t>
            </a:r>
            <a:r>
              <a:rPr sz="1200">
                <a:solidFill>
                  <a:srgbClr val="E2E8F0"/>
                </a:solidFill>
              </a:rPr>
              <a:t>• Pod 1
• Pod 2
</a:t>
            </a:r>
            <a:r>
              <a:rPr sz="1000" i="1">
                <a:solidFill>
                  <a:srgbClr val="6EE7B7"/>
                </a:solidFill>
              </a:rPr>
              <a:t>NodePort :30080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5303520" y="2834640"/>
            <a:ext cx="2011680" cy="64008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03520" y="3474720"/>
            <a:ext cx="2011680" cy="146304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0" y="1554480"/>
            <a:ext cx="4114800" cy="1828800"/>
          </a:xfrm>
          <a:prstGeom prst="roundRect">
            <a:avLst/>
          </a:prstGeom>
          <a:solidFill>
            <a:srgbClr val="143C2E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6EE7B7"/>
                </a:solidFill>
              </a:rPr>
              <a:t>FRONTEND
</a:t>
            </a:r>
            <a:r>
              <a:rPr sz="1100">
                <a:solidFill>
                  <a:srgbClr val="94A3B8"/>
                </a:solidFill>
              </a:rPr>
              <a:t>React + Nginx
</a:t>
            </a:r>
            <a:r>
              <a:rPr sz="1200">
                <a:solidFill>
                  <a:srgbClr val="E2E8F0"/>
                </a:solidFill>
              </a:rPr>
              <a:t>Pod 1   |   Pod 2
</a:t>
            </a:r>
            <a:r>
              <a:rPr sz="1000" i="1">
                <a:solidFill>
                  <a:srgbClr val="94A3B8"/>
                </a:solidFill>
              </a:rPr>
              <a:t>ClusterIP :80 (internal)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4114800" cy="1828800"/>
          </a:xfrm>
          <a:prstGeom prst="roundRect">
            <a:avLst/>
          </a:prstGeom>
          <a:solidFill>
            <a:srgbClr val="3C2A14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CD34D"/>
                </a:solidFill>
              </a:rPr>
              <a:t>BACKEND
</a:t>
            </a:r>
            <a:r>
              <a:rPr sz="1100">
                <a:solidFill>
                  <a:srgbClr val="94A3B8"/>
                </a:solidFill>
              </a:rPr>
              <a:t>Python Flask
</a:t>
            </a:r>
            <a:r>
              <a:rPr sz="1200">
                <a:solidFill>
                  <a:srgbClr val="E2E8F0"/>
                </a:solidFill>
              </a:rPr>
              <a:t>Pod 1   |   Pod 2
</a:t>
            </a:r>
            <a:r>
              <a:rPr sz="1000" i="1">
                <a:solidFill>
                  <a:srgbClr val="94A3B8"/>
                </a:solidFill>
              </a:rPr>
              <a:t>ClusterIP :5000 (internal)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Segoe UI"/>
              </a:rPr>
              <a:t>All external traffic enters through the gateway. Frontend &amp; backend are ClusterIP — unreachable from outside.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Key Technical Decisions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207008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097280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Nginx as gateway (not Ingress controller)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7899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Segoe UI"/>
              </a:rPr>
              <a:t>Full control of every directive — rate limit zones, bot maps, buffer sizes — without depending on an Ingress controller's abstraction layer.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048256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38528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Frontend &amp; backend = ClusterIP (not NodePort)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58568"/>
            <a:ext cx="107899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Segoe UI"/>
              </a:rPr>
              <a:t>Only the gateway is externally exposed. Internal services have zero public attack surface — bots can't bypass the gateway.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730752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Return HTTP 429 instead of default 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41064"/>
            <a:ext cx="107899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Segoe UI"/>
              </a:rPr>
              <a:t>429 = 'Too Many Requests' is semantically correct and tells well-behaved clients to back off. 503 implies server failure.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462272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Multiple replicas per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82312"/>
            <a:ext cx="107899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Segoe UI"/>
              </a:rPr>
              <a:t>Two replicas of every tier (gateway, frontend, backend) — survives pod failures, distributes load, demonstrates K8s self-healing.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DDoS Protections — Gateway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4114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Segoe UI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234440"/>
            <a:ext cx="4389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Segoe UI"/>
              </a:rPr>
              <a:t>Nginx Directive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234440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Segoe UI"/>
              </a:rPr>
              <a:t>Effect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112471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Rate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73736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limit_req_zone — 10 r/s, burst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Excess → HTTP 429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2402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Conn. limit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24028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limit_conn_zone — 10 per 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Excess → HTTP 429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51760"/>
            <a:ext cx="112471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74320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Slowloris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74320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client_*_timeout 10s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74320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Closes slow connections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24612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Buffer 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324612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client_body_buffer_size 1k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24612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Rejects oversized headers/body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657600"/>
            <a:ext cx="112471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Bot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374904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map $http_user_agent → bad_bot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74904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Empty/sqlmap/nikto → HTTP 403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2519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Methods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25196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if ($request_method !~ ^(GET|HEAD|POST)$)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25196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DELETE/PUT/PATCH → 444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7548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Fingerprint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475488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server_tokens 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475488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Hides Nginx version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5780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Segoe UI"/>
              </a:rPr>
              <a:t>XSS/Clickjack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5257800"/>
            <a:ext cx="4389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add_header X-Frame-Options + CSP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5257800"/>
            <a:ext cx="47548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Segoe UI"/>
              </a:rPr>
              <a:t>Browser-side hardening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Kubernetes Features Demonstrated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Namespace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18872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multi-pod-app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18872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Isolates all resources in one logical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78308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3 deployments × 2 replicas = 6 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8308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Declarative pod management with rollout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Service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7744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NodePort (gateway) + ClusterIP (internal)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37744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Public entry, private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Service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DNS: backend-service.multi-pod-app.svc.cluster.local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7180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Gateway resolves upstream by name, not 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6616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Health Probes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56616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readinessProbe + livenessProbe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56616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Auto-removes unhealthy pods from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Resource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16052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CPU &amp; memory requests + limits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16052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Prevents one pod from starving the node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488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75488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kube-proxy → endpoints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75488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Requests round-robin'd across pod replicas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34924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Segoe UI"/>
              </a:rPr>
              <a:t>Self-Healing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534924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6EE7B7"/>
                </a:solidFill>
                <a:latin typeface="Consolas"/>
              </a:rPr>
              <a:t>Replica set reconciliation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4924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Segoe UI"/>
              </a:rPr>
              <a:t>Killed pods get recreated within seconds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Demo — Deployment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./deploy.sh → builds 3 images, applies 7 manifests, waits for rollout</a:t>
            </a:r>
          </a:p>
        </p:txBody>
      </p:sp>
      <p:pic>
        <p:nvPicPr>
          <p:cNvPr id="6" name="Picture 5" descr="screenshot_02_deploy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6980"/>
            <a:ext cx="6457349" cy="50723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Demo — Running Pods &amp;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kubectl -n multi-pod-app get pods + services</a:t>
            </a:r>
          </a:p>
        </p:txBody>
      </p:sp>
      <p:pic>
        <p:nvPicPr>
          <p:cNvPr id="6" name="Picture 5" descr="screenshot_01_cluster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49013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Demo — Gateway Routing (Frontend + Backend)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/ → frontend pods • /api/* → backend pods • all via gateway</a:t>
            </a:r>
          </a:p>
        </p:txBody>
      </p:sp>
      <p:pic>
        <p:nvPicPr>
          <p:cNvPr id="6" name="Picture 5" descr="screenshot_03_gateway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5107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Results — Rate &amp; Connection Limiting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486400" cy="2377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Segoe UI"/>
              </a:rPr>
              <a:t>Test 2: Rapid-Fire (120 requests)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56032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600" b="1">
                <a:solidFill>
                  <a:srgbClr val="6EE7B7"/>
                </a:solidFill>
                <a:latin typeface="Segoe UI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Segoe UI"/>
              </a:rPr>
              <a:t>Served (HTTP 200)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37360"/>
            <a:ext cx="256032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600" b="1">
                <a:solidFill>
                  <a:srgbClr val="FCD34D"/>
                </a:solidFill>
                <a:latin typeface="Segoe UI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60604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Segoe UI"/>
              </a:rPr>
              <a:t>Rate Limited (HTTP 429)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5120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EE7B7"/>
                </a:solidFill>
                <a:latin typeface="Segoe UI"/>
              </a:rPr>
              <a:t>→ 43% of attack traffic blocked at the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97280"/>
            <a:ext cx="5486400" cy="2377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Segoe UI"/>
              </a:rPr>
              <a:t>Test 3: Concurrent Connections (30)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256032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600" b="1">
                <a:solidFill>
                  <a:srgbClr val="6EE7B7"/>
                </a:solidFill>
                <a:latin typeface="Segoe UI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0604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Segoe UI"/>
              </a:rPr>
              <a:t>Served (HTTP 200)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737360"/>
            <a:ext cx="256032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600" b="1">
                <a:solidFill>
                  <a:srgbClr val="FCD34D"/>
                </a:solidFill>
                <a:latin typeface="Segoe UI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606040"/>
            <a:ext cx="25603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Segoe UI"/>
              </a:rPr>
              <a:t>Conn. Limited (HTTP 429)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5120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EE7B7"/>
                </a:solidFill>
                <a:latin typeface="Segoe UI"/>
              </a:rPr>
              <a:t>→ Exactly the configured cap of 10 concurrent per IP</a:t>
            </a:r>
          </a:p>
        </p:txBody>
      </p:sp>
      <p:pic>
        <p:nvPicPr>
          <p:cNvPr id="19" name="Picture 18" descr="screenshot_04_rate_connection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426" y="3608748"/>
            <a:ext cx="5136574" cy="29749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Results — Kubernetes Load Balancing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6 sequential requests to /api/info — pods responding (round-robin):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554480"/>
            <a:ext cx="9144000" cy="45720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1645920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E2E8F0"/>
                </a:solidFill>
                <a:latin typeface="Segoe UI"/>
              </a:rPr>
              <a:t>Request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4592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38BDF8"/>
                </a:solidFill>
                <a:latin typeface="Consolas"/>
              </a:rPr>
              <a:t>backend-85689c8775-22ml6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057400"/>
            <a:ext cx="9144000" cy="45720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0" y="2148840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E2E8F0"/>
                </a:solidFill>
                <a:latin typeface="Segoe UI"/>
              </a:rPr>
              <a:t>Request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4884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EE7B7"/>
                </a:solidFill>
                <a:latin typeface="Consolas"/>
              </a:rPr>
              <a:t>backend-85689c8775-zddq8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560320"/>
            <a:ext cx="9144000" cy="45720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5920" y="2651760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E2E8F0"/>
                </a:solidFill>
                <a:latin typeface="Segoe UI"/>
              </a:rPr>
              <a:t>Request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38BDF8"/>
                </a:solidFill>
                <a:latin typeface="Consolas"/>
              </a:rPr>
              <a:t>backend-85689c8775-22ml6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063240"/>
            <a:ext cx="9144000" cy="45720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45920" y="3154680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E2E8F0"/>
                </a:solidFill>
                <a:latin typeface="Segoe UI"/>
              </a:rPr>
              <a:t>Request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15468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38BDF8"/>
                </a:solidFill>
                <a:latin typeface="Consolas"/>
              </a:rPr>
              <a:t>backend-85689c8775-22ml6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3566160"/>
            <a:ext cx="9144000" cy="45720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5920" y="3657600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E2E8F0"/>
                </a:solidFill>
                <a:latin typeface="Segoe UI"/>
              </a:rPr>
              <a:t>Request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65760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EE7B7"/>
                </a:solidFill>
                <a:latin typeface="Consolas"/>
              </a:rPr>
              <a:t>backend-85689c8775-zddq8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4069080"/>
            <a:ext cx="9144000" cy="45720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5920" y="4160520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E2E8F0"/>
                </a:solidFill>
                <a:latin typeface="Segoe UI"/>
              </a:rPr>
              <a:t>Request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16052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EE7B7"/>
                </a:solidFill>
                <a:latin typeface="Consolas"/>
              </a:rPr>
              <a:t>backend-85689c8775-zddq8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600" b="1">
                <a:solidFill>
                  <a:srgbClr val="6EE7B7"/>
                </a:solidFill>
                <a:latin typeface="Segoe UI"/>
              </a:rPr>
              <a:t>PASS — requests distributed across 2 distinct backend pods (3 + 3)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Segoe UI"/>
              </a:rPr>
              <a:t>kube-proxy + Service abstraction handles routing transparently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13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38BDF8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Segoe UI"/>
              </a:rPr>
              <a:t>A single, unified project demonstrating both topics in one architecture.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27432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400" b="1">
                <a:solidFill>
                  <a:srgbClr val="6EE7B7"/>
                </a:solidFill>
                <a:latin typeface="Segoe UI"/>
              </a:rPr>
              <a:t>8/8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Segoe UI"/>
              </a:rPr>
              <a:t>Tests passing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01168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7560" y="2194560"/>
            <a:ext cx="27432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400" b="1">
                <a:solidFill>
                  <a:srgbClr val="38BDF8"/>
                </a:solidFill>
                <a:latin typeface="Segoe U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310896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Segoe UI"/>
              </a:rPr>
              <a:t>Pods (3 deployments ×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01168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2194560"/>
            <a:ext cx="27432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400" b="1">
                <a:solidFill>
                  <a:srgbClr val="38BDF8"/>
                </a:solidFill>
                <a:latin typeface="Segoe U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0896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Segoe UI"/>
              </a:rPr>
              <a:t>Kubernetes manifests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201168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80" y="2194560"/>
            <a:ext cx="27432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400" b="1">
                <a:solidFill>
                  <a:srgbClr val="6EE7B7"/>
                </a:solidFill>
                <a:latin typeface="Segoe UI"/>
              </a:rPr>
              <a:t>8+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310896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Segoe UI"/>
              </a:rPr>
              <a:t>DDoS protections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>
                <a:solidFill>
                  <a:srgbClr val="38BDF8"/>
                </a:solidFill>
                <a:latin typeface="Segoe UI"/>
              </a:rPr>
              <a:t>What this proves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663440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E2E8F0"/>
                </a:solidFill>
                <a:latin typeface="Segoe UI"/>
              </a:rPr>
              <a:t>•  Both topics aren't separate concerns </a:t>
            </a:r>
            <a:r>
              <a:rPr lang="en-US" sz="1400" dirty="0">
                <a:solidFill>
                  <a:srgbClr val="E2E8F0"/>
                </a:solidFill>
                <a:latin typeface="Segoe UI"/>
              </a:rPr>
              <a:t>that</a:t>
            </a:r>
            <a:r>
              <a:rPr sz="1400" dirty="0">
                <a:solidFill>
                  <a:srgbClr val="E2E8F0"/>
                </a:solidFill>
                <a:latin typeface="Segoe UI"/>
              </a:rPr>
              <a:t> they're complementary layers of a defense-in-depth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Segoe UI"/>
              </a:rPr>
              <a:t>DDoS-Protected Multi-Pod Application on Kubernetes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14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70852" y="2814550"/>
            <a:ext cx="1124712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7200" b="1" dirty="0">
                <a:solidFill>
                  <a:srgbClr val="38BDF8"/>
                </a:solidFill>
                <a:latin typeface="Segoe U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1412</TotalTime>
  <Words>924</Words>
  <Application>Microsoft Office PowerPoint</Application>
  <PresentationFormat>Произвольный</PresentationFormat>
  <Paragraphs>177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Segoe UI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Asus</cp:lastModifiedBy>
  <cp:revision>4</cp:revision>
  <dcterms:created xsi:type="dcterms:W3CDTF">2013-01-27T09:14:16Z</dcterms:created>
  <dcterms:modified xsi:type="dcterms:W3CDTF">2026-05-12T03:52:27Z</dcterms:modified>
  <cp:category/>
</cp:coreProperties>
</file>