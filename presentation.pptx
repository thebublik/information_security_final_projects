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400" b="1">
                <a:solidFill>
                  <a:srgbClr val="38BDF8"/>
                </a:solidFill>
                <a:latin typeface="Segoe UI"/>
              </a:rPr>
              <a:t>DDoS-Protected Multi-Pod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200" b="1">
                <a:solidFill>
                  <a:srgbClr val="E2E8F0"/>
                </a:solidFill>
                <a:latin typeface="Segoe UI"/>
              </a:rPr>
              <a:t>on Kubernetes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0">
                <a:solidFill>
                  <a:srgbClr val="94A3B8"/>
                </a:solidFill>
                <a:latin typeface="Segoe UI"/>
              </a:rPr>
              <a:t>Information Security — Final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Segoe UI"/>
              </a:rPr>
              <a:t>Combining DDoS Mitigation + Container Orchestration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38BDF8"/>
                </a:solidFill>
                <a:latin typeface="Segoe UI"/>
              </a:rPr>
              <a:t>Amantai Akunov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38BDF8"/>
                </a:solidFill>
                <a:latin typeface="Segoe UI"/>
              </a:rPr>
              <a:t>Problem &amp; Motivation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486400" cy="49377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38BDF8"/>
                </a:solidFill>
                <a:latin typeface="Segoe UI"/>
              </a:rPr>
              <a:t>The Threat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E2E8F0"/>
                </a:solidFill>
                <a:latin typeface="Segoe UI"/>
              </a:rPr>
              <a:t>•  DDoS attacks cost businesses an avg. $40k+/hour in downtime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2E8F0"/>
                </a:solidFill>
                <a:latin typeface="Segoe UI"/>
              </a:rPr>
              <a:t>•  Modern web apps face waves of automated bot traffic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2E8F0"/>
                </a:solidFill>
                <a:latin typeface="Segoe UI"/>
              </a:rPr>
              <a:t>•  Slowloris, HTTP flood &amp; layer-7 attacks exhaust resources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2E8F0"/>
                </a:solidFill>
                <a:latin typeface="Segoe UI"/>
              </a:rPr>
              <a:t>•  Single-server architectures have no failure isolation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2E8F0"/>
                </a:solidFill>
                <a:latin typeface="Segoe UI"/>
              </a:rPr>
              <a:t>•  Without rate limiting, one bad client = entire app down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486400" cy="49377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38BDF8"/>
                </a:solidFill>
                <a:latin typeface="Segoe UI"/>
              </a:rPr>
              <a:t>The Need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E2E8F0"/>
                </a:solidFill>
                <a:latin typeface="Segoe UI"/>
              </a:rPr>
              <a:t>•  Defense at the network edge BEFORE traffic reaches apps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2E8F0"/>
                </a:solidFill>
                <a:latin typeface="Segoe UI"/>
              </a:rPr>
              <a:t>•  Horizontal scalability to absorb legitimate traffic spikes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2E8F0"/>
                </a:solidFill>
                <a:latin typeface="Segoe UI"/>
              </a:rPr>
              <a:t>•  Self-healing infrastructure that survives pod failures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2E8F0"/>
                </a:solidFill>
                <a:latin typeface="Segoe UI"/>
              </a:rPr>
              <a:t>•  Clear separation: public gateway vs. internal services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2E8F0"/>
                </a:solidFill>
                <a:latin typeface="Segoe UI"/>
              </a:rPr>
              <a:t>•  Reproducible deploys (config as code, not click-ops)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DDoS-Protected Multi-Pod Application on Kubernetes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38BDF8"/>
                </a:solidFill>
                <a:latin typeface="Segoe UI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94A3B8"/>
                </a:solidFill>
                <a:latin typeface="Segoe UI"/>
              </a:rPr>
              <a:t>A hardened Nginx ingress gateway in front of a multi-pod K8s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3749039" cy="4114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3474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38BDF8"/>
                </a:solidFill>
                <a:latin typeface="Segoe UI"/>
              </a:rPr>
              <a:t>Nginx Gateway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E2E8F0"/>
                </a:solidFill>
                <a:latin typeface="Segoe UI"/>
              </a:rPr>
              <a:t>•  DDoS-hardened entry point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2E8F0"/>
                </a:solidFill>
                <a:latin typeface="Segoe UI"/>
              </a:rPr>
              <a:t>•  Rate &amp; connection limits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2E8F0"/>
                </a:solidFill>
                <a:latin typeface="Segoe UI"/>
              </a:rPr>
              <a:t>•  Bot/UA filtering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2E8F0"/>
                </a:solidFill>
                <a:latin typeface="Segoe UI"/>
              </a:rPr>
              <a:t>•  Single public endpoint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920240"/>
            <a:ext cx="3749039" cy="4114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26280" y="2103120"/>
            <a:ext cx="3474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6EE7B7"/>
                </a:solidFill>
                <a:latin typeface="Segoe UI"/>
              </a:rPr>
              <a:t>Multi-Pod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65176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E2E8F0"/>
                </a:solidFill>
                <a:latin typeface="Segoe UI"/>
              </a:rPr>
              <a:t>•  React frontend (SPA)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2E8F0"/>
                </a:solidFill>
                <a:latin typeface="Segoe UI"/>
              </a:rPr>
              <a:t>•  Flask REST API backend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2E8F0"/>
                </a:solidFill>
                <a:latin typeface="Segoe UI"/>
              </a:rPr>
              <a:t>•  2 replicas of each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2E8F0"/>
                </a:solidFill>
                <a:latin typeface="Segoe UI"/>
              </a:rPr>
              <a:t>•  ClusterIP — internal 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920240"/>
            <a:ext cx="3749039" cy="4114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412480" y="2103120"/>
            <a:ext cx="3474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CD34D"/>
                </a:solidFill>
                <a:latin typeface="Segoe UI"/>
              </a:rPr>
              <a:t>Kubernetes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65176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E2E8F0"/>
                </a:solidFill>
                <a:latin typeface="Segoe UI"/>
              </a:rPr>
              <a:t>•  Service discovery (DNS)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2E8F0"/>
                </a:solidFill>
                <a:latin typeface="Segoe UI"/>
              </a:rPr>
              <a:t>•  Health checks (liveness/readiness)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2E8F0"/>
                </a:solidFill>
                <a:latin typeface="Segoe UI"/>
              </a:rPr>
              <a:t>•  Self-healing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2E8F0"/>
                </a:solidFill>
                <a:latin typeface="Segoe UI"/>
              </a:rPr>
              <a:t>•  Horizontal scaling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DDoS-Protected Multi-Pod Application on Kubernetes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38BDF8"/>
                </a:solidFill>
                <a:latin typeface="Segoe UI"/>
              </a:rPr>
              <a:t>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188720"/>
            <a:ext cx="9418320" cy="5029200"/>
          </a:xfrm>
          <a:prstGeom prst="roundRect">
            <a:avLst>
              <a:gd name="adj" fmla="val 3000"/>
            </a:avLst>
          </a:prstGeom>
          <a:solidFill>
            <a:srgbClr val="101A32"/>
          </a:solidFill>
          <a:ln w="25400">
            <a:solidFill>
              <a:srgbClr val="38BDF8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0" y="128016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Segoe UI"/>
              </a:rPr>
              <a:t>Kubernetes Cluster (multi-pod-app namespace)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017520"/>
            <a:ext cx="164592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E2E8F0"/>
                </a:solidFill>
              </a:rPr>
              <a:t>Browser /</a:t>
            </a:r>
          </a:p>
          <a:p>
            <a:pPr algn="ctr"/>
            <a:r>
              <a:rPr sz="1400" b="1">
                <a:solidFill>
                  <a:srgbClr val="E2E8F0"/>
                </a:solidFill>
              </a:rPr>
              <a:t>Client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3474720"/>
            <a:ext cx="822960" cy="0"/>
          </a:xfrm>
          <a:prstGeom prst="line">
            <a:avLst/>
          </a:prstGeom>
          <a:ln w="317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43200" y="2194560"/>
            <a:ext cx="2560320" cy="2560320"/>
          </a:xfrm>
          <a:prstGeom prst="roundRect">
            <a:avLst/>
          </a:prstGeom>
          <a:solidFill>
            <a:srgbClr val="1E404F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38BDF8"/>
                </a:solidFill>
              </a:rPr>
              <a:t>GATEWAY
</a:t>
            </a:r>
            <a:r>
              <a:rPr sz="1100">
                <a:solidFill>
                  <a:srgbClr val="94A3B8"/>
                </a:solidFill>
              </a:rPr>
              <a:t>(DDoS-Hardened Nginx)
</a:t>
            </a:r>
            <a:r>
              <a:rPr sz="1200">
                <a:solidFill>
                  <a:srgbClr val="E2E8F0"/>
                </a:solidFill>
              </a:rPr>
              <a:t>• Pod 1
• Pod 2
</a:t>
            </a:r>
            <a:r>
              <a:rPr sz="1000" i="1">
                <a:solidFill>
                  <a:srgbClr val="6EE7B7"/>
                </a:solidFill>
              </a:rPr>
              <a:t>NodePort :30080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5303520" y="2834640"/>
            <a:ext cx="2011680" cy="64008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03520" y="3474720"/>
            <a:ext cx="2011680" cy="146304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315200" y="1554480"/>
            <a:ext cx="4114800" cy="1828800"/>
          </a:xfrm>
          <a:prstGeom prst="roundRect">
            <a:avLst/>
          </a:prstGeom>
          <a:solidFill>
            <a:srgbClr val="143C2E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6EE7B7"/>
                </a:solidFill>
              </a:rPr>
              <a:t>FRONTEND
</a:t>
            </a:r>
            <a:r>
              <a:rPr sz="1100">
                <a:solidFill>
                  <a:srgbClr val="94A3B8"/>
                </a:solidFill>
              </a:rPr>
              <a:t>React + Nginx
</a:t>
            </a:r>
            <a:r>
              <a:rPr sz="1200">
                <a:solidFill>
                  <a:srgbClr val="E2E8F0"/>
                </a:solidFill>
              </a:rPr>
              <a:t>Pod 1   |   Pod 2
</a:t>
            </a:r>
            <a:r>
              <a:rPr sz="1000" i="1">
                <a:solidFill>
                  <a:srgbClr val="94A3B8"/>
                </a:solidFill>
              </a:rPr>
              <a:t>ClusterIP :80 (internal)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3840480"/>
            <a:ext cx="4114800" cy="1828800"/>
          </a:xfrm>
          <a:prstGeom prst="roundRect">
            <a:avLst/>
          </a:prstGeom>
          <a:solidFill>
            <a:srgbClr val="3C2A14"/>
          </a:solidFill>
          <a:ln w="1905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CD34D"/>
                </a:solidFill>
              </a:rPr>
              <a:t>BACKEND
</a:t>
            </a:r>
            <a:r>
              <a:rPr sz="1100">
                <a:solidFill>
                  <a:srgbClr val="94A3B8"/>
                </a:solidFill>
              </a:rPr>
              <a:t>Python Flask
</a:t>
            </a:r>
            <a:r>
              <a:rPr sz="1200">
                <a:solidFill>
                  <a:srgbClr val="E2E8F0"/>
                </a:solidFill>
              </a:rPr>
              <a:t>Pod 1   |   Pod 2
</a:t>
            </a:r>
            <a:r>
              <a:rPr sz="1000" i="1">
                <a:solidFill>
                  <a:srgbClr val="94A3B8"/>
                </a:solidFill>
              </a:rPr>
              <a:t>ClusterIP :5000 (internal)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All external traffic enters through the gateway. Frontend &amp; backend are ClusterIP — unreachable from outside.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DDoS-Protected Multi-Pod Application on Kubernetes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38BDF8"/>
                </a:solidFill>
                <a:latin typeface="Segoe UI"/>
              </a:rPr>
              <a:t>Key Technical Decisions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207008"/>
            <a:ext cx="182880" cy="1828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97280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Segoe UI"/>
              </a:rPr>
              <a:t>Nginx as gateway (not Ingress controller)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789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Segoe UI"/>
              </a:rPr>
              <a:t>Full control of every directive — rate limit zones, bot maps, buffer sizes — without depending on an Ingress controller's abstraction layer.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048256"/>
            <a:ext cx="182880" cy="1828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3852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Segoe UI"/>
              </a:rPr>
              <a:t>Frontend &amp; backend = ClusterIP (not NodePort)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58568"/>
            <a:ext cx="10789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Segoe UI"/>
              </a:rPr>
              <a:t>Only the gateway is externally exposed. Internal services have zero public attack surface — bots can't bypass the gateway.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889504"/>
            <a:ext cx="182880" cy="1828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779776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Segoe UI"/>
              </a:rPr>
              <a:t>`$binary_remote_addr` for rate-limit key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99816"/>
            <a:ext cx="10789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Segoe UI"/>
              </a:rPr>
              <a:t>Stores IPs in ~64 bytes vs ~64+ for string form. A 10MB zone tracks ~160,000 unique IPs — efficient at scale.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730752"/>
            <a:ext cx="182880" cy="1828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621024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Segoe UI"/>
              </a:rPr>
              <a:t>Return HTTP 429 instead of default 503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941064"/>
            <a:ext cx="10789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Segoe UI"/>
              </a:rPr>
              <a:t>429 = 'Too Many Requests' is semantically correct and tells well-behaved clients to back off. 503 implies server failure.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4572000"/>
            <a:ext cx="182880" cy="1828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462272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Segoe UI"/>
              </a:rPr>
              <a:t>Multiple replicas per 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782312"/>
            <a:ext cx="10789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Segoe UI"/>
              </a:rPr>
              <a:t>Two replicas of every tier (gateway, frontend, backend) — survives pod failures, distributes load, demonstrates K8s self-healing.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5413248"/>
            <a:ext cx="182880" cy="1828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303520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Segoe UI"/>
              </a:rPr>
              <a:t>Readiness + liveness probes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623560"/>
            <a:ext cx="10789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Segoe UI"/>
              </a:rPr>
              <a:t>Readiness keeps unready pods out of the service. Liveness restarts pods that hang — both required for production resilience.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DDoS-Protected Multi-Pod Application on Kubernetes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38BDF8"/>
                </a:solidFill>
                <a:latin typeface="Segoe UI"/>
              </a:rPr>
              <a:t>DDoS Protections — Gateway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47120" cy="4114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Segoe UI"/>
              </a:rPr>
              <a:t>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234440"/>
            <a:ext cx="4389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Segoe UI"/>
              </a:rPr>
              <a:t>Nginx Directive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234440"/>
            <a:ext cx="47548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Segoe UI"/>
              </a:rPr>
              <a:t>Effect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1124712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Segoe UI"/>
              </a:rPr>
              <a:t>Rate limit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737360"/>
            <a:ext cx="4389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Segoe UI"/>
              </a:rPr>
              <a:t>limit_req_zone — 10 r/s, burst 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737360"/>
            <a:ext cx="47548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Segoe UI"/>
              </a:rPr>
              <a:t>Excess → HTTP 429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24028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Segoe UI"/>
              </a:rPr>
              <a:t>Conn. limit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240280"/>
            <a:ext cx="4389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Segoe UI"/>
              </a:rPr>
              <a:t>limit_conn_zone — 10 per 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240280"/>
            <a:ext cx="47548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Segoe UI"/>
              </a:rPr>
              <a:t>Excess → HTTP 429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51760"/>
            <a:ext cx="1124712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74320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Segoe UI"/>
              </a:rPr>
              <a:t>Slowloris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743200"/>
            <a:ext cx="4389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Segoe UI"/>
              </a:rPr>
              <a:t>client_*_timeout 10s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743200"/>
            <a:ext cx="47548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Segoe UI"/>
              </a:rPr>
              <a:t>Closes slow connections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24612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Segoe UI"/>
              </a:rPr>
              <a:t>Buffer 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3246120"/>
            <a:ext cx="4389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Segoe UI"/>
              </a:rPr>
              <a:t>client_body_buffer_size 1k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246120"/>
            <a:ext cx="47548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Segoe UI"/>
              </a:rPr>
              <a:t>Rejects oversized headers/body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657600"/>
            <a:ext cx="1124712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74904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Segoe UI"/>
              </a:rPr>
              <a:t>Bot filter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3749040"/>
            <a:ext cx="4389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Segoe UI"/>
              </a:rPr>
              <a:t>map $http_user_agent → bad_bot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749040"/>
            <a:ext cx="47548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Segoe UI"/>
              </a:rPr>
              <a:t>Empty/sqlmap/nikto → HTTP 403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25196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Segoe UI"/>
              </a:rPr>
              <a:t>Methods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4251960"/>
            <a:ext cx="4389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Segoe UI"/>
              </a:rPr>
              <a:t>if ($request_method !~ ^(GET|HEAD|POST)$)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4251960"/>
            <a:ext cx="47548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Segoe UI"/>
              </a:rPr>
              <a:t>DELETE/PUT/PATCH → 444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663440"/>
            <a:ext cx="1124712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75488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Segoe UI"/>
              </a:rPr>
              <a:t>Fingerprint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4754880"/>
            <a:ext cx="4389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Segoe UI"/>
              </a:rPr>
              <a:t>server_tokens off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754880"/>
            <a:ext cx="47548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Segoe UI"/>
              </a:rPr>
              <a:t>Hides Nginx version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25780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Segoe UI"/>
              </a:rPr>
              <a:t>XSS/Clickjack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0320" y="5257800"/>
            <a:ext cx="4389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Segoe UI"/>
              </a:rPr>
              <a:t>add_header X-Frame-Options + CSP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5257800"/>
            <a:ext cx="47548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Segoe UI"/>
              </a:rPr>
              <a:t>Browser-side hardening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DDoS-Protected Multi-Pod Application on Kubernetes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38BDF8"/>
                </a:solidFill>
                <a:latin typeface="Segoe UI"/>
              </a:rPr>
              <a:t>Kubernetes Features Demonstrated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Segoe UI"/>
              </a:rPr>
              <a:t>Namespace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18872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EE7B7"/>
                </a:solidFill>
                <a:latin typeface="Consolas"/>
              </a:rPr>
              <a:t>multi-pod-app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188720"/>
            <a:ext cx="3840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Isolates all resources in one logical 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Segoe UI"/>
              </a:rPr>
              <a:t>Deployments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78308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EE7B7"/>
                </a:solidFill>
                <a:latin typeface="Consolas"/>
              </a:rPr>
              <a:t>3 deployments × 2 replicas = 6 pods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783080"/>
            <a:ext cx="3840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Declarative pod management with rollout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Segoe UI"/>
              </a:rPr>
              <a:t>Service Types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37744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EE7B7"/>
                </a:solidFill>
                <a:latin typeface="Consolas"/>
              </a:rPr>
              <a:t>NodePort (gateway) + ClusterIP (internal)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377440"/>
            <a:ext cx="3840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Public entry, private 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7180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Segoe UI"/>
              </a:rPr>
              <a:t>Service Discovery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97180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EE7B7"/>
                </a:solidFill>
                <a:latin typeface="Consolas"/>
              </a:rPr>
              <a:t>DNS: backend-service.multi-pod-app.svc.cluster.local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3840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Gateway resolves upstream by name, not 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56616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Segoe UI"/>
              </a:rPr>
              <a:t>Health Probes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56616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EE7B7"/>
                </a:solidFill>
                <a:latin typeface="Consolas"/>
              </a:rPr>
              <a:t>readinessProbe + livenessProbe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566160"/>
            <a:ext cx="3840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Auto-removes unhealthy pods from rotation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16052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Segoe UI"/>
              </a:rPr>
              <a:t>Resource Limits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416052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EE7B7"/>
                </a:solidFill>
                <a:latin typeface="Consolas"/>
              </a:rPr>
              <a:t>CPU &amp; memory requests + limits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160520"/>
            <a:ext cx="3840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Prevents one pod from starving the node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75488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Segoe UI"/>
              </a:rPr>
              <a:t>Load Balancing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475488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EE7B7"/>
                </a:solidFill>
                <a:latin typeface="Consolas"/>
              </a:rPr>
              <a:t>kube-proxy → endpoints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4754880"/>
            <a:ext cx="3840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Requests round-robin'd across pod replicas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34924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Segoe UI"/>
              </a:rPr>
              <a:t>Self-Healing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534924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EE7B7"/>
                </a:solidFill>
                <a:latin typeface="Consolas"/>
              </a:rPr>
              <a:t>Replica set reconciliation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5349240"/>
            <a:ext cx="3840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Killed pods get recreated within seconds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DDoS-Protected Multi-Pod Application on Kubernetes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38BDF8"/>
                </a:solidFill>
                <a:latin typeface="Segoe UI"/>
              </a:rPr>
              <a:t>Demo — Deployment Success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./deploy.sh → builds 3 images, applies 7 manifests, waits for rollout</a:t>
            </a:r>
          </a:p>
        </p:txBody>
      </p:sp>
      <p:pic>
        <p:nvPicPr>
          <p:cNvPr id="6" name="Picture 5" descr="screenshot_02_deploy_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11247120" cy="88348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DDoS-Protected Multi-Pod Application on Kubernetes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38BDF8"/>
                </a:solidFill>
                <a:latin typeface="Segoe UI"/>
              </a:rPr>
              <a:t>Demo — Running Pods &amp;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kubectl -n multi-pod-app get pods + services</a:t>
            </a:r>
          </a:p>
        </p:txBody>
      </p:sp>
      <p:pic>
        <p:nvPicPr>
          <p:cNvPr id="6" name="Picture 5" descr="screenshot_01_cluster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11247120" cy="49013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DDoS-Protected Multi-Pod Application on Kubernetes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38BDF8"/>
                </a:solidFill>
                <a:latin typeface="Segoe UI"/>
              </a:rPr>
              <a:t>Demo — Gateway Routing (Frontend + Backend)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/ → frontend pods • /api/* → backend pods • all via gateway</a:t>
            </a:r>
          </a:p>
        </p:txBody>
      </p:sp>
      <p:pic>
        <p:nvPicPr>
          <p:cNvPr id="6" name="Picture 5" descr="screenshot_03_gateway_rou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11247120" cy="51079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DDoS-Protected Multi-Pod Application on Kubernetes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38BDF8"/>
                </a:solidFill>
                <a:latin typeface="Segoe UI"/>
              </a:rPr>
              <a:t>Results — Rate &amp; Connection Limiting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486400" cy="23774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51206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  <a:latin typeface="Segoe UI"/>
              </a:rPr>
              <a:t>Test 2: Rapid-Fire (120 requests)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25603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600" b="1">
                <a:solidFill>
                  <a:srgbClr val="6EE7B7"/>
                </a:solidFill>
                <a:latin typeface="Segoe UI"/>
              </a:rPr>
              <a:t>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Served (HTTP 200)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737360"/>
            <a:ext cx="25603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600" b="1">
                <a:solidFill>
                  <a:srgbClr val="FCD34D"/>
                </a:solidFill>
                <a:latin typeface="Segoe UI"/>
              </a:rPr>
              <a:t>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60604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Rate Limited (HTTP 429)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1752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6EE7B7"/>
                </a:solidFill>
                <a:latin typeface="Segoe UI"/>
              </a:rPr>
              <a:t>→ 43% of attack traffic blocked at the gateway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097280"/>
            <a:ext cx="5486400" cy="23774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0" y="1234440"/>
            <a:ext cx="51206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  <a:latin typeface="Segoe UI"/>
              </a:rPr>
              <a:t>Test 3: Concurrent Connections (30)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37360"/>
            <a:ext cx="25603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600" b="1">
                <a:solidFill>
                  <a:srgbClr val="6EE7B7"/>
                </a:solidFill>
                <a:latin typeface="Segoe UI"/>
              </a:rP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0604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Served (HTTP 200)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1737360"/>
            <a:ext cx="25603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600" b="1">
                <a:solidFill>
                  <a:srgbClr val="FCD34D"/>
                </a:solidFill>
                <a:latin typeface="Segoe UI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60604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Conn. Limited (HTTP 429)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01752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6EE7B7"/>
                </a:solidFill>
                <a:latin typeface="Segoe UI"/>
              </a:rPr>
              <a:t>→ Exactly the configured cap of 10 concurrent per IP</a:t>
            </a:r>
          </a:p>
        </p:txBody>
      </p:sp>
      <p:pic>
        <p:nvPicPr>
          <p:cNvPr id="19" name="Picture 18" descr="screenshot_04_rate_connection_lim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0"/>
            <a:ext cx="11247120" cy="651395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DDoS-Protected Multi-Pod Application on Kubernetes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38BDF8"/>
                </a:solidFill>
                <a:latin typeface="Segoe UI"/>
              </a:rPr>
              <a:t>Results — Bot Filter, Method, Header Limits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47120" cy="4114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Segoe UI"/>
              </a:rPr>
              <a:t>Probe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23444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Segoe UI"/>
              </a:rPr>
              <a:t>Response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23444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Segoe UI"/>
              </a:rPr>
              <a:t>Outcome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1124712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4389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onsolas"/>
              </a:rPr>
              <a:t>Empty User-Agent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69164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Consolas"/>
              </a:rPr>
              <a:t>HTTP 403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69164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6EE7B7"/>
                </a:solidFill>
                <a:latin typeface="Segoe UI"/>
              </a:rPr>
              <a:t>BLOCKED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057400"/>
            <a:ext cx="4389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onsolas"/>
              </a:rPr>
              <a:t>sqlmap/1.5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05740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Consolas"/>
              </a:rPr>
              <a:t>HTTP 403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05740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6EE7B7"/>
                </a:solidFill>
                <a:latin typeface="Segoe UI"/>
              </a:rPr>
              <a:t>BLOCKED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377440"/>
            <a:ext cx="1124712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423160"/>
            <a:ext cx="4389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onsolas"/>
              </a:rPr>
              <a:t>nikto/2.1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42316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Consolas"/>
              </a:rPr>
              <a:t>HTTP 403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42316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6EE7B7"/>
                </a:solidFill>
                <a:latin typeface="Segoe UI"/>
              </a:rPr>
              <a:t>BLOCKED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788920"/>
            <a:ext cx="4389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onsolas"/>
              </a:rPr>
              <a:t>Mozilla/5.0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78892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Consolas"/>
              </a:rPr>
              <a:t>HTTP 200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78892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6EE7B7"/>
                </a:solidFill>
                <a:latin typeface="Segoe UI"/>
              </a:rPr>
              <a:t>ALLOWED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108960"/>
            <a:ext cx="1124712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154680"/>
            <a:ext cx="4389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onsolas"/>
              </a:rPr>
              <a:t>DELETE 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315468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Consolas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315468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6EE7B7"/>
                </a:solidFill>
                <a:latin typeface="Segoe UI"/>
              </a:rPr>
              <a:t>Connection closed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520440"/>
            <a:ext cx="4389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onsolas"/>
              </a:rPr>
              <a:t>PUT 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352044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Consolas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352044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6EE7B7"/>
                </a:solidFill>
                <a:latin typeface="Segoe UI"/>
              </a:rPr>
              <a:t>Connection closed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840480"/>
            <a:ext cx="1124712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886200"/>
            <a:ext cx="4389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onsolas"/>
              </a:rPr>
              <a:t>PATCH 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388620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Consolas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388620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6EE7B7"/>
                </a:solidFill>
                <a:latin typeface="Segoe UI"/>
              </a:rPr>
              <a:t>Connection closed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251960"/>
            <a:ext cx="4389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onsolas"/>
              </a:rPr>
              <a:t>OPTIONS /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425196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Consolas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425196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6EE7B7"/>
                </a:solidFill>
                <a:latin typeface="Segoe UI"/>
              </a:rPr>
              <a:t>Connection closed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572000"/>
            <a:ext cx="1124712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617720"/>
            <a:ext cx="4389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onsolas"/>
              </a:rPr>
              <a:t>8 KB X-Attack header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461772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Consolas"/>
              </a:rPr>
              <a:t>HTTP 400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461772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6EE7B7"/>
                </a:solidFill>
                <a:latin typeface="Segoe UI"/>
              </a:rPr>
              <a:t>REJECTED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983480"/>
            <a:ext cx="4389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onsolas"/>
              </a:rPr>
              <a:t>Server header check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498348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Consolas"/>
              </a:rPr>
              <a:t>nginx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498348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6EE7B7"/>
                </a:solidFill>
                <a:latin typeface="Segoe UI"/>
              </a:rPr>
              <a:t>no version (hidden)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DDoS-Protected Multi-Pod Application on Kubernetes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38BDF8"/>
                </a:solidFill>
                <a:latin typeface="Segoe UI"/>
              </a:rPr>
              <a:t>Results — Kubernetes Load Balancing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6 sequential requests to /api/info — pods responding (round-robin):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554480"/>
            <a:ext cx="9144000" cy="4572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6459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Segoe UI"/>
              </a:rPr>
              <a:t>Request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645920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8BDF8"/>
                </a:solidFill>
                <a:latin typeface="Consolas"/>
              </a:rPr>
              <a:t>backend-85689c8775-22ml6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057400"/>
            <a:ext cx="9144000" cy="4572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214884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Segoe UI"/>
              </a:rPr>
              <a:t>Request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148840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6EE7B7"/>
                </a:solidFill>
                <a:latin typeface="Consolas"/>
              </a:rPr>
              <a:t>backend-85689c8775-zddq8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2560320"/>
            <a:ext cx="9144000" cy="4572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265176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Segoe UI"/>
              </a:rPr>
              <a:t>Request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651760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8BDF8"/>
                </a:solidFill>
                <a:latin typeface="Consolas"/>
              </a:rPr>
              <a:t>backend-85689c8775-22ml6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3063240"/>
            <a:ext cx="9144000" cy="4572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315468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Segoe UI"/>
              </a:rPr>
              <a:t>Request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154680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8BDF8"/>
                </a:solidFill>
                <a:latin typeface="Consolas"/>
              </a:rPr>
              <a:t>backend-85689c8775-22ml6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3566160"/>
            <a:ext cx="9144000" cy="4572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0" y="365760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Segoe UI"/>
              </a:rPr>
              <a:t>Request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657600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6EE7B7"/>
                </a:solidFill>
                <a:latin typeface="Consolas"/>
              </a:rPr>
              <a:t>backend-85689c8775-zddq8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4069080"/>
            <a:ext cx="9144000" cy="4572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45920" y="41605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Segoe UI"/>
              </a:rPr>
              <a:t>Request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160520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6EE7B7"/>
                </a:solidFill>
                <a:latin typeface="Consolas"/>
              </a:rPr>
              <a:t>backend-85689c8775-zddq8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6EE7B7"/>
                </a:solidFill>
                <a:latin typeface="Segoe UI"/>
              </a:rPr>
              <a:t>PASS — requests distributed across 2 distinct backend pods (3 + 3)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kube-proxy + Service abstraction handles routing transparently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DDoS-Protected Multi-Pod Application on Kubernetes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38BDF8"/>
                </a:solidFill>
                <a:latin typeface="Segoe U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E2E8F0"/>
                </a:solidFill>
                <a:latin typeface="Segoe UI"/>
              </a:rPr>
              <a:t>A single, unified project demonstrating both topics in one architecture.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2743200" cy="1645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27432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400" b="1">
                <a:solidFill>
                  <a:srgbClr val="6EE7B7"/>
                </a:solidFill>
                <a:latin typeface="Segoe UI"/>
              </a:rPr>
              <a:t>8/8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Tests passing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2011680"/>
            <a:ext cx="2743200" cy="1645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337560" y="2194560"/>
            <a:ext cx="27432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400" b="1">
                <a:solidFill>
                  <a:srgbClr val="38BDF8"/>
                </a:solidFill>
                <a:latin typeface="Segoe U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310896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Pods (3 deployments × 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011680"/>
            <a:ext cx="2743200" cy="1645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17920" y="2194560"/>
            <a:ext cx="27432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400" b="1">
                <a:solidFill>
                  <a:srgbClr val="38BDF8"/>
                </a:solidFill>
                <a:latin typeface="Segoe UI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10896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Kubernetes manifests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2011680"/>
            <a:ext cx="2743200" cy="1645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098280" y="2194560"/>
            <a:ext cx="27432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400" b="1">
                <a:solidFill>
                  <a:srgbClr val="6EE7B7"/>
                </a:solidFill>
                <a:latin typeface="Segoe UI"/>
              </a:rPr>
              <a:t>8+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310896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DDoS protections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38BDF8"/>
                </a:solidFill>
                <a:latin typeface="Segoe UI"/>
              </a:rPr>
              <a:t>What this proves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66344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E2E8F0"/>
                </a:solidFill>
                <a:latin typeface="Segoe UI"/>
              </a:rPr>
              <a:t>•  DDoS mitigation is most effective when applied at the network edge — before requests reach app pods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2E8F0"/>
                </a:solidFill>
                <a:latin typeface="Segoe UI"/>
              </a:rPr>
              <a:t>•  Kubernetes Service abstraction lets us hide internal services behind a single hardened gateway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2E8F0"/>
                </a:solidFill>
                <a:latin typeface="Segoe UI"/>
              </a:rPr>
              <a:t>•  Both topics aren't separate concerns — they're complementary layers of a defense-in-depth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DDoS-Protected Multi-Pod Application on Kubernetes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124712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7200" b="1">
                <a:solidFill>
                  <a:srgbClr val="38BDF8"/>
                </a:solidFill>
                <a:latin typeface="Segoe U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0">
                <a:solidFill>
                  <a:srgbClr val="E2E8F0"/>
                </a:solidFill>
                <a:latin typeface="Segoe UI"/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Repository: github.com/&lt;your-username&gt;/information_security_final_projects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